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5" r:id="rId11"/>
    <p:sldId id="264" r:id="rId12"/>
  </p:sldIdLst>
  <p:sldSz cx="18288000" cy="10287000"/>
  <p:notesSz cx="6858000" cy="9144000"/>
  <p:embeddedFontLst>
    <p:embeddedFont>
      <p:font typeface="Poppins Bold" panose="020B0604020202020204" charset="0"/>
      <p:regular r:id="rId13"/>
    </p:embeddedFont>
    <p:embeddedFont>
      <p:font typeface="Calibri" panose="020F0502020204030204" pitchFamily="34" charset="0"/>
      <p:regular r:id="rId14"/>
      <p:bold r:id="rId15"/>
      <p:italic r:id="rId16"/>
      <p:boldItalic r:id="rId17"/>
    </p:embeddedFont>
    <p:embeddedFont>
      <p:font typeface="Poppins" panose="020B0604020202020204" charset="0"/>
      <p:regular r:id="rId18"/>
    </p:embeddedFont>
    <p:embeddedFont>
      <p:font typeface="Poppins Semi-Bold" panose="020B0604020202020204" charset="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>
        <p:scale>
          <a:sx n="66" d="100"/>
          <a:sy n="66" d="100"/>
        </p:scale>
        <p:origin x="-1014" y="-35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Relationship Id="rId14" Type="http://schemas.openxmlformats.org/officeDocument/2006/relationships/image" Target="../media/image2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11" Type="http://schemas.openxmlformats.org/officeDocument/2006/relationships/image" Target="../media/image38.png"/><Relationship Id="rId5" Type="http://schemas.openxmlformats.org/officeDocument/2006/relationships/image" Target="../media/image32.png"/><Relationship Id="rId10" Type="http://schemas.openxmlformats.org/officeDocument/2006/relationships/image" Target="../media/image37.png"/><Relationship Id="rId4" Type="http://schemas.openxmlformats.org/officeDocument/2006/relationships/image" Target="../media/image31.png"/><Relationship Id="rId9" Type="http://schemas.openxmlformats.org/officeDocument/2006/relationships/image" Target="../media/image3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13" Type="http://schemas.openxmlformats.org/officeDocument/2006/relationships/image" Target="../media/image54.png"/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12" Type="http://schemas.openxmlformats.org/officeDocument/2006/relationships/image" Target="../media/image53.png"/><Relationship Id="rId17" Type="http://schemas.openxmlformats.org/officeDocument/2006/relationships/image" Target="../media/image58.png"/><Relationship Id="rId2" Type="http://schemas.openxmlformats.org/officeDocument/2006/relationships/image" Target="../media/image43.png"/><Relationship Id="rId16" Type="http://schemas.openxmlformats.org/officeDocument/2006/relationships/image" Target="../media/image5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7.png"/><Relationship Id="rId11" Type="http://schemas.openxmlformats.org/officeDocument/2006/relationships/image" Target="../media/image52.png"/><Relationship Id="rId5" Type="http://schemas.openxmlformats.org/officeDocument/2006/relationships/image" Target="../media/image46.png"/><Relationship Id="rId15" Type="http://schemas.openxmlformats.org/officeDocument/2006/relationships/image" Target="../media/image56.png"/><Relationship Id="rId10" Type="http://schemas.openxmlformats.org/officeDocument/2006/relationships/image" Target="../media/image51.png"/><Relationship Id="rId4" Type="http://schemas.openxmlformats.org/officeDocument/2006/relationships/image" Target="../media/image45.png"/><Relationship Id="rId9" Type="http://schemas.openxmlformats.org/officeDocument/2006/relationships/image" Target="../media/image50.png"/><Relationship Id="rId14" Type="http://schemas.openxmlformats.org/officeDocument/2006/relationships/image" Target="../media/image5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2450592" y="579638"/>
            <a:ext cx="13386816" cy="1262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824"/>
              </a:lnSpc>
            </a:pPr>
            <a:r>
              <a:rPr lang="en-US" sz="8824" b="1" spc="-44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UART Transmitter Module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443984" y="1983295"/>
            <a:ext cx="9400032" cy="1076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65"/>
              </a:lnSpc>
            </a:pPr>
            <a:r>
              <a:rPr lang="en-US" sz="3471" spc="-173" dirty="0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Hardware Architecture, Block Diagram Process &amp; Synthesizable Verilog Implementation</a:t>
            </a:r>
          </a:p>
        </p:txBody>
      </p:sp>
      <p:sp>
        <p:nvSpPr>
          <p:cNvPr id="5" name="Freeform 5"/>
          <p:cNvSpPr/>
          <p:nvPr/>
        </p:nvSpPr>
        <p:spPr>
          <a:xfrm>
            <a:off x="2828925" y="3429000"/>
            <a:ext cx="12630150" cy="6362700"/>
          </a:xfrm>
          <a:custGeom>
            <a:avLst/>
            <a:gdLst/>
            <a:ahLst/>
            <a:cxnLst/>
            <a:rect l="l" t="t" r="r" b="b"/>
            <a:pathLst>
              <a:path w="12630150" h="5791200">
                <a:moveTo>
                  <a:pt x="0" y="0"/>
                </a:moveTo>
                <a:lnTo>
                  <a:pt x="12630150" y="0"/>
                </a:lnTo>
                <a:lnTo>
                  <a:pt x="12630150" y="5791200"/>
                </a:lnTo>
                <a:lnTo>
                  <a:pt x="0" y="57912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7391400" y="4929188"/>
            <a:ext cx="2895600" cy="357760"/>
          </a:xfrm>
          <a:custGeom>
            <a:avLst/>
            <a:gdLst/>
            <a:ahLst/>
            <a:cxnLst/>
            <a:rect l="l" t="t" r="r" b="b"/>
            <a:pathLst>
              <a:path w="3048000" h="428625">
                <a:moveTo>
                  <a:pt x="0" y="0"/>
                </a:moveTo>
                <a:lnTo>
                  <a:pt x="3048000" y="0"/>
                </a:lnTo>
                <a:lnTo>
                  <a:pt x="304800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4995672" y="4345227"/>
            <a:ext cx="7790688" cy="7278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31"/>
              </a:lnSpc>
            </a:pPr>
            <a:r>
              <a:rPr lang="en-US" sz="5031" b="1" spc="-25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UART Transmitter Module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017443" y="5286947"/>
            <a:ext cx="7863840" cy="628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64"/>
              </a:lnSpc>
            </a:pPr>
            <a:r>
              <a:rPr lang="en-US" sz="2053" spc="-102" dirty="0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Hardware Architecture, Block Diagram Process &amp; Synthesizable Verilog Implementation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491984" y="4984653"/>
            <a:ext cx="2542032" cy="1534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67"/>
              </a:lnSpc>
            </a:pPr>
            <a:r>
              <a:rPr lang="en-US" sz="1167" b="1" spc="-58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VLSI &amp; DIGITAL SYSTEM DESIGN</a:t>
            </a:r>
          </a:p>
        </p:txBody>
      </p:sp>
      <p:pic>
        <p:nvPicPr>
          <p:cNvPr id="1026" name="Picture 2" descr="E:\Course\NTI\SIMPLE BLOCK DIAGRAM.jfif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775"/>
          <a:stretch/>
        </p:blipFill>
        <p:spPr bwMode="auto">
          <a:xfrm>
            <a:off x="5358758" y="6003772"/>
            <a:ext cx="7427602" cy="35353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2839700" y="857250"/>
            <a:ext cx="5019675" cy="9001125"/>
          </a:xfrm>
          <a:custGeom>
            <a:avLst/>
            <a:gdLst/>
            <a:ahLst/>
            <a:cxnLst/>
            <a:rect l="l" t="t" r="r" b="b"/>
            <a:pathLst>
              <a:path w="5019675" h="9001125">
                <a:moveTo>
                  <a:pt x="0" y="0"/>
                </a:moveTo>
                <a:lnTo>
                  <a:pt x="5019675" y="0"/>
                </a:lnTo>
                <a:lnTo>
                  <a:pt x="5019675" y="9001125"/>
                </a:lnTo>
                <a:lnTo>
                  <a:pt x="0" y="90011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510531" y="3622390"/>
            <a:ext cx="12263041" cy="5103307"/>
          </a:xfrm>
          <a:custGeom>
            <a:avLst/>
            <a:gdLst/>
            <a:ahLst/>
            <a:cxnLst/>
            <a:rect l="l" t="t" r="r" b="b"/>
            <a:pathLst>
              <a:path w="12263041" h="5103307">
                <a:moveTo>
                  <a:pt x="0" y="0"/>
                </a:moveTo>
                <a:lnTo>
                  <a:pt x="12263041" y="0"/>
                </a:lnTo>
                <a:lnTo>
                  <a:pt x="12263041" y="5103307"/>
                </a:lnTo>
                <a:lnTo>
                  <a:pt x="0" y="510330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19030" r="-4175" b="-17513"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566928" y="527125"/>
            <a:ext cx="10424160" cy="9162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49"/>
              </a:lnSpc>
            </a:pPr>
            <a:r>
              <a:rPr lang="en-US" sz="6449" b="1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Hardware Block Diagram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6928" y="1542795"/>
            <a:ext cx="6711696" cy="4089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5"/>
              </a:lnSpc>
            </a:pPr>
            <a:r>
              <a:rPr lang="en-US" sz="2975" b="1">
                <a:solidFill>
                  <a:srgbClr val="00C9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UART TRANSMITTER ARCHITECTURE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3350240" y="1553980"/>
            <a:ext cx="3840480" cy="2440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34"/>
              </a:lnSpc>
            </a:pPr>
            <a:r>
              <a:rPr lang="en-US" sz="1734" b="1">
                <a:solidFill>
                  <a:srgbClr val="00C9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KEY ARCHITECTURAL COMPONENTS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350240" y="2109028"/>
            <a:ext cx="2596896" cy="2449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69"/>
              </a:lnSpc>
            </a:pPr>
            <a:r>
              <a:rPr lang="en-US" sz="1769" b="1">
                <a:solidFill>
                  <a:srgbClr val="00C9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TX Data Buffer / FIFO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350240" y="2400262"/>
            <a:ext cx="3438144" cy="6047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42"/>
              </a:lnSpc>
            </a:pPr>
            <a:r>
              <a:rPr lang="en-US" sz="162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Stores incoming 8-bit data bytes from data bus.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350240" y="3405190"/>
            <a:ext cx="2926080" cy="2449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69"/>
              </a:lnSpc>
            </a:pPr>
            <a:r>
              <a:rPr lang="en-US" sz="1769" b="1">
                <a:solidFill>
                  <a:srgbClr val="00C9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TX Control Logic &amp; FSM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350240" y="3696424"/>
            <a:ext cx="3017520" cy="6047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42"/>
              </a:lnSpc>
            </a:pPr>
            <a:r>
              <a:rPr lang="en-US" sz="162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Central controller generating load, shift, and status flags.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350240" y="4691065"/>
            <a:ext cx="2578608" cy="2449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69"/>
              </a:lnSpc>
            </a:pPr>
            <a:r>
              <a:rPr lang="en-US" sz="1769" b="1">
                <a:solidFill>
                  <a:srgbClr val="00C9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Baud Rate Generator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350240" y="4982299"/>
            <a:ext cx="3310128" cy="6047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42"/>
              </a:lnSpc>
            </a:pPr>
            <a:r>
              <a:rPr lang="en-US" sz="162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Generates output pulse train for selected transmission speed.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3350240" y="5976940"/>
            <a:ext cx="2468880" cy="2449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69"/>
              </a:lnSpc>
            </a:pPr>
            <a:r>
              <a:rPr lang="en-US" sz="1769" b="1">
                <a:solidFill>
                  <a:srgbClr val="00C9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11-Bit Shift Register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350240" y="6268174"/>
            <a:ext cx="3511296" cy="6047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42"/>
              </a:lnSpc>
            </a:pPr>
            <a:r>
              <a:rPr lang="en-US" sz="162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Converts parallel data frame into serial stream.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3350240" y="7262815"/>
            <a:ext cx="2011680" cy="2449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69"/>
              </a:lnSpc>
            </a:pPr>
            <a:r>
              <a:rPr lang="en-US" sz="1769" b="1">
                <a:solidFill>
                  <a:srgbClr val="00C9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Parity Generator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3350240" y="7554049"/>
            <a:ext cx="3621024" cy="6047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42"/>
              </a:lnSpc>
            </a:pPr>
            <a:r>
              <a:rPr lang="en-US" sz="162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Computes Odd/Even/Mark/Space parity bits.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3350240" y="8517829"/>
            <a:ext cx="2322576" cy="2449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69"/>
              </a:lnSpc>
            </a:pPr>
            <a:r>
              <a:rPr lang="en-US" sz="1769" b="1">
                <a:solidFill>
                  <a:srgbClr val="00C9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Output Multiplexer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3350240" y="8809063"/>
            <a:ext cx="3639312" cy="6047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42"/>
              </a:lnSpc>
            </a:pPr>
            <a:r>
              <a:rPr lang="en-US" sz="162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Routes Serial, Break, or Idle states to TXD.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32688" y="2637543"/>
            <a:ext cx="3529584" cy="1865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44"/>
              </a:lnSpc>
            </a:pPr>
            <a:r>
              <a:rPr lang="en-US" sz="134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TECHNICAL DATOSHEET - UART TX MODULE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32688" y="3104251"/>
            <a:ext cx="5577840" cy="19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50"/>
              </a:lnSpc>
            </a:pPr>
            <a:r>
              <a:rPr lang="en-US" sz="1450" b="1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FIGURE 1: HARDWARE BLOCK DIAGRAM OF UART TRANSMITTER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658368" y="2118550"/>
            <a:ext cx="15703122" cy="7377602"/>
          </a:xfrm>
          <a:custGeom>
            <a:avLst/>
            <a:gdLst/>
            <a:ahLst/>
            <a:cxnLst/>
            <a:rect l="l" t="t" r="r" b="b"/>
            <a:pathLst>
              <a:path w="15703122" h="7377602">
                <a:moveTo>
                  <a:pt x="0" y="0"/>
                </a:moveTo>
                <a:lnTo>
                  <a:pt x="15703122" y="0"/>
                </a:lnTo>
                <a:lnTo>
                  <a:pt x="15703122" y="7377602"/>
                </a:lnTo>
                <a:lnTo>
                  <a:pt x="0" y="73776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3295" r="-3607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658368" y="530924"/>
            <a:ext cx="11155680" cy="1000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441"/>
              </a:lnSpc>
            </a:pPr>
            <a:r>
              <a:rPr lang="en-US" sz="6200" b="1" spc="-18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Sub-System Processing Flow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58368" y="1523238"/>
            <a:ext cx="8412480" cy="495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55"/>
              </a:lnSpc>
            </a:pPr>
            <a:r>
              <a:rPr lang="en-US" sz="3045" b="1">
                <a:solidFill>
                  <a:srgbClr val="00E8FF"/>
                </a:solidFill>
                <a:latin typeface="Poppins Bold"/>
                <a:ea typeface="Poppins Bold"/>
                <a:cs typeface="Poppins Bold"/>
                <a:sym typeface="Poppins Bold"/>
              </a:rPr>
              <a:t>DATA FLOW AND MODULE RESPONSIBILITIES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217590" y="1997705"/>
            <a:ext cx="10239375" cy="8142697"/>
          </a:xfrm>
          <a:custGeom>
            <a:avLst/>
            <a:gdLst/>
            <a:ahLst/>
            <a:cxnLst/>
            <a:rect l="l" t="t" r="r" b="b"/>
            <a:pathLst>
              <a:path w="10239375" h="8142697">
                <a:moveTo>
                  <a:pt x="0" y="0"/>
                </a:moveTo>
                <a:lnTo>
                  <a:pt x="10239375" y="0"/>
                </a:lnTo>
                <a:lnTo>
                  <a:pt x="10239375" y="8142697"/>
                </a:lnTo>
                <a:lnTo>
                  <a:pt x="0" y="81426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243" r="-4243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0448925" y="2571750"/>
            <a:ext cx="2181225" cy="1285875"/>
          </a:xfrm>
          <a:custGeom>
            <a:avLst/>
            <a:gdLst/>
            <a:ahLst/>
            <a:cxnLst/>
            <a:rect l="l" t="t" r="r" b="b"/>
            <a:pathLst>
              <a:path w="2181225" h="1285875">
                <a:moveTo>
                  <a:pt x="0" y="0"/>
                </a:moveTo>
                <a:lnTo>
                  <a:pt x="2181225" y="0"/>
                </a:lnTo>
                <a:lnTo>
                  <a:pt x="2181225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2401550" y="1924050"/>
            <a:ext cx="5457825" cy="1724025"/>
          </a:xfrm>
          <a:custGeom>
            <a:avLst/>
            <a:gdLst/>
            <a:ahLst/>
            <a:cxnLst/>
            <a:rect l="l" t="t" r="r" b="b"/>
            <a:pathLst>
              <a:path w="5457825" h="1724025">
                <a:moveTo>
                  <a:pt x="0" y="0"/>
                </a:moveTo>
                <a:lnTo>
                  <a:pt x="5457825" y="0"/>
                </a:lnTo>
                <a:lnTo>
                  <a:pt x="5457825" y="1724025"/>
                </a:lnTo>
                <a:lnTo>
                  <a:pt x="0" y="17240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0448925" y="4286250"/>
            <a:ext cx="2181225" cy="1076325"/>
          </a:xfrm>
          <a:custGeom>
            <a:avLst/>
            <a:gdLst/>
            <a:ahLst/>
            <a:cxnLst/>
            <a:rect l="l" t="t" r="r" b="b"/>
            <a:pathLst>
              <a:path w="2181225" h="1076325">
                <a:moveTo>
                  <a:pt x="0" y="0"/>
                </a:moveTo>
                <a:lnTo>
                  <a:pt x="2181225" y="0"/>
                </a:lnTo>
                <a:lnTo>
                  <a:pt x="218122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2401550" y="3638550"/>
            <a:ext cx="5457825" cy="1504950"/>
          </a:xfrm>
          <a:custGeom>
            <a:avLst/>
            <a:gdLst/>
            <a:ahLst/>
            <a:cxnLst/>
            <a:rect l="l" t="t" r="r" b="b"/>
            <a:pathLst>
              <a:path w="5457825" h="1504950">
                <a:moveTo>
                  <a:pt x="0" y="0"/>
                </a:moveTo>
                <a:lnTo>
                  <a:pt x="5457825" y="0"/>
                </a:lnTo>
                <a:lnTo>
                  <a:pt x="5457825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0448925" y="5781675"/>
            <a:ext cx="2181225" cy="647700"/>
          </a:xfrm>
          <a:custGeom>
            <a:avLst/>
            <a:gdLst/>
            <a:ahLst/>
            <a:cxnLst/>
            <a:rect l="l" t="t" r="r" b="b"/>
            <a:pathLst>
              <a:path w="2181225" h="647700">
                <a:moveTo>
                  <a:pt x="0" y="0"/>
                </a:moveTo>
                <a:lnTo>
                  <a:pt x="2181225" y="0"/>
                </a:lnTo>
                <a:lnTo>
                  <a:pt x="218122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2401550" y="5143500"/>
            <a:ext cx="5457825" cy="1714500"/>
          </a:xfrm>
          <a:custGeom>
            <a:avLst/>
            <a:gdLst/>
            <a:ahLst/>
            <a:cxnLst/>
            <a:rect l="l" t="t" r="r" b="b"/>
            <a:pathLst>
              <a:path w="5457825" h="1714500">
                <a:moveTo>
                  <a:pt x="0" y="0"/>
                </a:moveTo>
                <a:lnTo>
                  <a:pt x="5457825" y="0"/>
                </a:lnTo>
                <a:lnTo>
                  <a:pt x="5457825" y="1714500"/>
                </a:lnTo>
                <a:lnTo>
                  <a:pt x="0" y="17145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0448925" y="7496175"/>
            <a:ext cx="2181225" cy="219075"/>
          </a:xfrm>
          <a:custGeom>
            <a:avLst/>
            <a:gdLst/>
            <a:ahLst/>
            <a:cxnLst/>
            <a:rect l="l" t="t" r="r" b="b"/>
            <a:pathLst>
              <a:path w="2181225" h="219075">
                <a:moveTo>
                  <a:pt x="0" y="0"/>
                </a:moveTo>
                <a:lnTo>
                  <a:pt x="2181225" y="0"/>
                </a:lnTo>
                <a:lnTo>
                  <a:pt x="218122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2401550" y="6858000"/>
            <a:ext cx="5457825" cy="1504950"/>
          </a:xfrm>
          <a:custGeom>
            <a:avLst/>
            <a:gdLst/>
            <a:ahLst/>
            <a:cxnLst/>
            <a:rect l="l" t="t" r="r" b="b"/>
            <a:pathLst>
              <a:path w="5457825" h="1504950">
                <a:moveTo>
                  <a:pt x="0" y="0"/>
                </a:moveTo>
                <a:lnTo>
                  <a:pt x="5457825" y="0"/>
                </a:lnTo>
                <a:lnTo>
                  <a:pt x="5457825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0448925" y="8572500"/>
            <a:ext cx="2181225" cy="857250"/>
          </a:xfrm>
          <a:custGeom>
            <a:avLst/>
            <a:gdLst/>
            <a:ahLst/>
            <a:cxnLst/>
            <a:rect l="l" t="t" r="r" b="b"/>
            <a:pathLst>
              <a:path w="2181225" h="857250">
                <a:moveTo>
                  <a:pt x="0" y="0"/>
                </a:moveTo>
                <a:lnTo>
                  <a:pt x="2181225" y="0"/>
                </a:lnTo>
                <a:lnTo>
                  <a:pt x="2181225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2401550" y="8353425"/>
            <a:ext cx="5457825" cy="1504950"/>
          </a:xfrm>
          <a:custGeom>
            <a:avLst/>
            <a:gdLst/>
            <a:ahLst/>
            <a:cxnLst/>
            <a:rect l="l" t="t" r="r" b="b"/>
            <a:pathLst>
              <a:path w="5457825" h="1504950">
                <a:moveTo>
                  <a:pt x="0" y="0"/>
                </a:moveTo>
                <a:lnTo>
                  <a:pt x="5457825" y="0"/>
                </a:lnTo>
                <a:lnTo>
                  <a:pt x="5457825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566928" y="488252"/>
            <a:ext cx="11173968" cy="962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143"/>
              </a:lnSpc>
            </a:pPr>
            <a:r>
              <a:rPr lang="en-US" sz="5952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Main Controller Verilog Code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66928" y="1474661"/>
            <a:ext cx="8851392" cy="44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7" b="1">
                <a:solidFill>
                  <a:srgbClr val="00F7FF"/>
                </a:solidFill>
                <a:latin typeface="Poppins Bold"/>
                <a:ea typeface="Poppins Bold"/>
                <a:cs typeface="Poppins Bold"/>
                <a:sym typeface="Poppins Bold"/>
              </a:rPr>
              <a:t>Synthesizable FSM for UART frame transmission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3569696" y="2662963"/>
            <a:ext cx="3218688" cy="5509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79"/>
              </a:lnSpc>
            </a:pPr>
            <a:r>
              <a:rPr lang="en-US" sz="155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Clock, reset, FIFO empty, and parity mode drive the controller.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765024" y="3866579"/>
            <a:ext cx="566928" cy="581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78"/>
              </a:lnSpc>
            </a:pPr>
            <a:r>
              <a:rPr lang="en-US" sz="3648" b="1">
                <a:solidFill>
                  <a:srgbClr val="00F7FF"/>
                </a:solidFill>
                <a:latin typeface="Poppins Bold"/>
                <a:ea typeface="Poppins Bold"/>
                <a:cs typeface="Poppins Bold"/>
                <a:sym typeface="Poppins Bold"/>
              </a:rPr>
              <a:t>02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3569696" y="3874961"/>
            <a:ext cx="1755648" cy="295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3"/>
              </a:lnSpc>
            </a:pPr>
            <a:r>
              <a:rPr lang="en-US" sz="1911" b="1">
                <a:solidFill>
                  <a:srgbClr val="00F7FF"/>
                </a:solidFill>
                <a:latin typeface="Poppins Bold"/>
                <a:ea typeface="Poppins Bold"/>
                <a:cs typeface="Poppins Bold"/>
                <a:sym typeface="Poppins Bold"/>
              </a:rPr>
              <a:t>State Register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3569696" y="4203900"/>
            <a:ext cx="3511296" cy="6485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77"/>
              </a:lnSpc>
            </a:pPr>
            <a:r>
              <a:rPr lang="en-US" sz="184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Asynchronous reset returns FSM to IDLE for safe startup.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2765024" y="5532311"/>
            <a:ext cx="566928" cy="561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50"/>
              </a:lnSpc>
            </a:pPr>
            <a:r>
              <a:rPr lang="en-US" sz="3542" b="1">
                <a:solidFill>
                  <a:srgbClr val="00F7FF"/>
                </a:solidFill>
                <a:latin typeface="Poppins Bold"/>
                <a:ea typeface="Poppins Bold"/>
                <a:cs typeface="Poppins Bold"/>
                <a:sym typeface="Poppins Bold"/>
              </a:rPr>
              <a:t>03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3569696" y="5868731"/>
            <a:ext cx="3694176" cy="6313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77"/>
              </a:lnSpc>
            </a:pPr>
            <a:r>
              <a:rPr lang="en-US" sz="176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Combinational logic determines the next state for each condition.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2765024" y="7089648"/>
            <a:ext cx="566928" cy="53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95"/>
              </a:lnSpc>
            </a:pPr>
            <a:r>
              <a:rPr lang="en-US" sz="3329" b="1">
                <a:solidFill>
                  <a:srgbClr val="00F7FF"/>
                </a:solidFill>
                <a:latin typeface="Poppins Bold"/>
                <a:ea typeface="Poppins Bold"/>
                <a:cs typeface="Poppins Bold"/>
                <a:sym typeface="Poppins Bold"/>
              </a:rPr>
              <a:t>04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3569696" y="7074218"/>
            <a:ext cx="1865376" cy="295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3"/>
              </a:lnSpc>
            </a:pPr>
            <a:r>
              <a:rPr lang="en-US" sz="1911" b="1">
                <a:solidFill>
                  <a:srgbClr val="00F7FF"/>
                </a:solidFill>
                <a:latin typeface="Poppins Bold"/>
                <a:ea typeface="Poppins Bold"/>
                <a:cs typeface="Poppins Bold"/>
                <a:sym typeface="Poppins Bold"/>
              </a:rPr>
              <a:t>Output Control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3569696" y="7448080"/>
            <a:ext cx="3694176" cy="5682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62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rd_en, shift_en, and tx_out are asserted per state to drive transmit.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3569696" y="8689277"/>
            <a:ext cx="1572768" cy="295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3"/>
              </a:lnSpc>
            </a:pPr>
            <a:r>
              <a:rPr lang="en-US" sz="1911" b="1">
                <a:solidFill>
                  <a:srgbClr val="00F7FF"/>
                </a:solidFill>
                <a:latin typeface="Poppins Bold"/>
                <a:ea typeface="Poppins Bold"/>
                <a:cs typeface="Poppins Bold"/>
                <a:sym typeface="Poppins Bold"/>
              </a:rPr>
              <a:t>Frame Cycle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3569696" y="9035465"/>
            <a:ext cx="3950208" cy="6045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8"/>
              </a:lnSpc>
            </a:pPr>
            <a:r>
              <a:rPr lang="en-US" sz="169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Transitions sequence through START, DATA, optional parity, then STOP.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3569696" y="2266188"/>
            <a:ext cx="822960" cy="314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36"/>
              </a:lnSpc>
            </a:pPr>
            <a:r>
              <a:rPr lang="en-US" sz="1947" b="1">
                <a:solidFill>
                  <a:srgbClr val="00F7FF"/>
                </a:solidFill>
                <a:latin typeface="Poppins Bold"/>
                <a:ea typeface="Poppins Bold"/>
                <a:cs typeface="Poppins Bold"/>
                <a:sym typeface="Poppins Bold"/>
              </a:rPr>
              <a:t>Inputs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2765024" y="2233994"/>
            <a:ext cx="566928" cy="647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46"/>
              </a:lnSpc>
            </a:pPr>
            <a:r>
              <a:rPr lang="en-US" sz="4038" b="1">
                <a:solidFill>
                  <a:srgbClr val="00F7FF"/>
                </a:solidFill>
                <a:latin typeface="Poppins Bold"/>
                <a:ea typeface="Poppins Bold"/>
                <a:cs typeface="Poppins Bold"/>
                <a:sym typeface="Poppins Bold"/>
              </a:rPr>
              <a:t>01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3569696" y="5512118"/>
            <a:ext cx="2103120" cy="323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21"/>
              </a:lnSpc>
            </a:pPr>
            <a:r>
              <a:rPr lang="en-US" sz="2017" b="1">
                <a:solidFill>
                  <a:srgbClr val="00F7FF"/>
                </a:solidFill>
                <a:latin typeface="Poppins Bold"/>
                <a:ea typeface="Poppins Bold"/>
                <a:cs typeface="Poppins Bold"/>
                <a:sym typeface="Poppins Bold"/>
              </a:rPr>
              <a:t>Next State Logic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2765024" y="8690420"/>
            <a:ext cx="566928" cy="552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80"/>
              </a:lnSpc>
            </a:pPr>
            <a:r>
              <a:rPr lang="en-US" sz="3400" b="1">
                <a:solidFill>
                  <a:srgbClr val="00F7FF"/>
                </a:solidFill>
                <a:latin typeface="Poppins Bold"/>
                <a:ea typeface="Poppins Bold"/>
                <a:cs typeface="Poppins Bold"/>
                <a:sym typeface="Poppins Bold"/>
              </a:rPr>
              <a:t>05</a:t>
            </a:r>
          </a:p>
        </p:txBody>
      </p:sp>
      <p:pic>
        <p:nvPicPr>
          <p:cNvPr id="1026" name="Picture 2" descr="E:\Course\NTI\controller.png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590" y="3185656"/>
            <a:ext cx="10831410" cy="56574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9846580" y="1791599"/>
            <a:ext cx="7336764" cy="7893718"/>
          </a:xfrm>
          <a:custGeom>
            <a:avLst/>
            <a:gdLst/>
            <a:ahLst/>
            <a:cxnLst/>
            <a:rect l="l" t="t" r="r" b="b"/>
            <a:pathLst>
              <a:path w="7336764" h="7893718">
                <a:moveTo>
                  <a:pt x="0" y="0"/>
                </a:moveTo>
                <a:lnTo>
                  <a:pt x="7336764" y="0"/>
                </a:lnTo>
                <a:lnTo>
                  <a:pt x="7336764" y="7893718"/>
                </a:lnTo>
                <a:lnTo>
                  <a:pt x="0" y="789371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26730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743975" y="1791599"/>
            <a:ext cx="8905072" cy="7898023"/>
          </a:xfrm>
          <a:custGeom>
            <a:avLst/>
            <a:gdLst/>
            <a:ahLst/>
            <a:cxnLst/>
            <a:rect l="l" t="t" r="r" b="b"/>
            <a:pathLst>
              <a:path w="8905072" h="7898023">
                <a:moveTo>
                  <a:pt x="0" y="0"/>
                </a:moveTo>
                <a:lnTo>
                  <a:pt x="8905071" y="0"/>
                </a:lnTo>
                <a:lnTo>
                  <a:pt x="8905071" y="7898023"/>
                </a:lnTo>
                <a:lnTo>
                  <a:pt x="0" y="78980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r="-74447"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407717" y="692895"/>
            <a:ext cx="17472566" cy="764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69"/>
              </a:lnSpc>
            </a:pPr>
            <a:r>
              <a:rPr lang="en-US" sz="5369" b="1" spc="-16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Serializer  Module &amp; Frame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10439400" y="4000500"/>
            <a:ext cx="685800" cy="1066800"/>
          </a:xfrm>
          <a:prstGeom prst="rect">
            <a:avLst/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5400" y="23586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560614" y="2138698"/>
            <a:ext cx="7668986" cy="7653001"/>
          </a:xfrm>
          <a:custGeom>
            <a:avLst/>
            <a:gdLst/>
            <a:ahLst/>
            <a:cxnLst/>
            <a:rect l="l" t="t" r="r" b="b"/>
            <a:pathLst>
              <a:path w="8470257" h="7670476">
                <a:moveTo>
                  <a:pt x="0" y="0"/>
                </a:moveTo>
                <a:lnTo>
                  <a:pt x="8470257" y="0"/>
                </a:lnTo>
                <a:lnTo>
                  <a:pt x="8470257" y="7670477"/>
                </a:lnTo>
                <a:lnTo>
                  <a:pt x="0" y="767047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87181"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548640" y="555301"/>
            <a:ext cx="9857232" cy="8805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65"/>
              </a:lnSpc>
            </a:pPr>
            <a:r>
              <a:rPr lang="en-US" sz="6165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Parity Generator Module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48640" y="1581846"/>
            <a:ext cx="8668512" cy="3514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85"/>
              </a:lnSpc>
            </a:pPr>
            <a:r>
              <a:rPr lang="en-US" sz="2585" b="1">
                <a:solidFill>
                  <a:srgbClr val="00E0FF"/>
                </a:solidFill>
                <a:latin typeface="Poppins Bold"/>
                <a:ea typeface="Poppins Bold"/>
                <a:cs typeface="Poppins Bold"/>
                <a:sym typeface="Poppins Bold"/>
              </a:rPr>
              <a:t>Computes the parity bit based on configured mode</a:t>
            </a:r>
          </a:p>
        </p:txBody>
      </p:sp>
      <p:pic>
        <p:nvPicPr>
          <p:cNvPr id="2050" name="Picture 2" descr="E:\Course\NTI\Images\parity logic.png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397" r="48936"/>
          <a:stretch/>
        </p:blipFill>
        <p:spPr bwMode="auto">
          <a:xfrm>
            <a:off x="9383485" y="2287673"/>
            <a:ext cx="5972529" cy="37843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E:\Course\NTI\Images\parity logic.png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313" t="25647" r="-377" b="-250"/>
          <a:stretch/>
        </p:blipFill>
        <p:spPr bwMode="auto">
          <a:xfrm>
            <a:off x="9383485" y="6007381"/>
            <a:ext cx="5972530" cy="37843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445770" y="2231207"/>
            <a:ext cx="8715375" cy="7505700"/>
          </a:xfrm>
          <a:custGeom>
            <a:avLst/>
            <a:gdLst/>
            <a:ahLst/>
            <a:cxnLst/>
            <a:rect l="l" t="t" r="r" b="b"/>
            <a:pathLst>
              <a:path w="8715375" h="7505700">
                <a:moveTo>
                  <a:pt x="0" y="0"/>
                </a:moveTo>
                <a:lnTo>
                  <a:pt x="8715375" y="0"/>
                </a:lnTo>
                <a:lnTo>
                  <a:pt x="8715375" y="7505700"/>
                </a:lnTo>
                <a:lnTo>
                  <a:pt x="0" y="75057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2401550" y="2352675"/>
            <a:ext cx="2628900" cy="1933575"/>
          </a:xfrm>
          <a:custGeom>
            <a:avLst/>
            <a:gdLst/>
            <a:ahLst/>
            <a:cxnLst/>
            <a:rect l="l" t="t" r="r" b="b"/>
            <a:pathLst>
              <a:path w="2628900" h="1933575">
                <a:moveTo>
                  <a:pt x="0" y="0"/>
                </a:moveTo>
                <a:lnTo>
                  <a:pt x="2628900" y="0"/>
                </a:lnTo>
                <a:lnTo>
                  <a:pt x="2628900" y="1933575"/>
                </a:lnTo>
                <a:lnTo>
                  <a:pt x="0" y="19335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1096625" y="3000375"/>
            <a:ext cx="1314450" cy="428625"/>
          </a:xfrm>
          <a:custGeom>
            <a:avLst/>
            <a:gdLst/>
            <a:ahLst/>
            <a:cxnLst/>
            <a:rect l="l" t="t" r="r" b="b"/>
            <a:pathLst>
              <a:path w="1314450" h="428625">
                <a:moveTo>
                  <a:pt x="0" y="0"/>
                </a:moveTo>
                <a:lnTo>
                  <a:pt x="1314450" y="0"/>
                </a:lnTo>
                <a:lnTo>
                  <a:pt x="131445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4801850" y="3000375"/>
            <a:ext cx="1314450" cy="428625"/>
          </a:xfrm>
          <a:custGeom>
            <a:avLst/>
            <a:gdLst/>
            <a:ahLst/>
            <a:cxnLst/>
            <a:rect l="l" t="t" r="r" b="b"/>
            <a:pathLst>
              <a:path w="1314450" h="428625">
                <a:moveTo>
                  <a:pt x="0" y="0"/>
                </a:moveTo>
                <a:lnTo>
                  <a:pt x="1314450" y="0"/>
                </a:lnTo>
                <a:lnTo>
                  <a:pt x="131445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2192000" y="4067175"/>
            <a:ext cx="876300" cy="1076325"/>
          </a:xfrm>
          <a:custGeom>
            <a:avLst/>
            <a:gdLst/>
            <a:ahLst/>
            <a:cxnLst/>
            <a:rect l="l" t="t" r="r" b="b"/>
            <a:pathLst>
              <a:path w="876300" h="1076325">
                <a:moveTo>
                  <a:pt x="0" y="0"/>
                </a:moveTo>
                <a:lnTo>
                  <a:pt x="876300" y="0"/>
                </a:lnTo>
                <a:lnTo>
                  <a:pt x="87630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3496925" y="4067175"/>
            <a:ext cx="438150" cy="1076325"/>
          </a:xfrm>
          <a:custGeom>
            <a:avLst/>
            <a:gdLst/>
            <a:ahLst/>
            <a:cxnLst/>
            <a:rect l="l" t="t" r="r" b="b"/>
            <a:pathLst>
              <a:path w="438150" h="1076325">
                <a:moveTo>
                  <a:pt x="0" y="0"/>
                </a:moveTo>
                <a:lnTo>
                  <a:pt x="438150" y="0"/>
                </a:lnTo>
                <a:lnTo>
                  <a:pt x="43815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4144625" y="4067175"/>
            <a:ext cx="1095375" cy="1076325"/>
          </a:xfrm>
          <a:custGeom>
            <a:avLst/>
            <a:gdLst/>
            <a:ahLst/>
            <a:cxnLst/>
            <a:rect l="l" t="t" r="r" b="b"/>
            <a:pathLst>
              <a:path w="1095375" h="1076325">
                <a:moveTo>
                  <a:pt x="0" y="0"/>
                </a:moveTo>
                <a:lnTo>
                  <a:pt x="1095375" y="0"/>
                </a:lnTo>
                <a:lnTo>
                  <a:pt x="109537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9572625" y="7067550"/>
            <a:ext cx="8067675" cy="2790825"/>
          </a:xfrm>
          <a:custGeom>
            <a:avLst/>
            <a:gdLst/>
            <a:ahLst/>
            <a:cxnLst/>
            <a:rect l="l" t="t" r="r" b="b"/>
            <a:pathLst>
              <a:path w="8067675" h="2790825">
                <a:moveTo>
                  <a:pt x="0" y="0"/>
                </a:moveTo>
                <a:lnTo>
                  <a:pt x="8067675" y="0"/>
                </a:lnTo>
                <a:lnTo>
                  <a:pt x="8067675" y="2790825"/>
                </a:lnTo>
                <a:lnTo>
                  <a:pt x="0" y="279082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233917" y="2530494"/>
            <a:ext cx="6974728" cy="7013423"/>
          </a:xfrm>
          <a:custGeom>
            <a:avLst/>
            <a:gdLst/>
            <a:ahLst/>
            <a:cxnLst/>
            <a:rect l="l" t="t" r="r" b="b"/>
            <a:pathLst>
              <a:path w="6974728" h="7013423">
                <a:moveTo>
                  <a:pt x="0" y="0"/>
                </a:moveTo>
                <a:lnTo>
                  <a:pt x="6974728" y="0"/>
                </a:lnTo>
                <a:lnTo>
                  <a:pt x="6974728" y="7013424"/>
                </a:lnTo>
                <a:lnTo>
                  <a:pt x="0" y="701342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r="-108620"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566928" y="574074"/>
            <a:ext cx="10991088" cy="8936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07"/>
              </a:lnSpc>
            </a:pPr>
            <a:r>
              <a:rPr lang="en-US" sz="6307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Output Multiplexer Module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66928" y="1573656"/>
            <a:ext cx="8247888" cy="4089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5"/>
              </a:lnSpc>
            </a:pPr>
            <a:r>
              <a:rPr lang="en-US" sz="2975" b="1">
                <a:solidFill>
                  <a:srgbClr val="00E0FF"/>
                </a:solidFill>
                <a:latin typeface="Poppins Bold"/>
                <a:ea typeface="Poppins Bold"/>
                <a:cs typeface="Poppins Bold"/>
                <a:sym typeface="Poppins Bold"/>
              </a:rPr>
              <a:t>GLITCH-FREE ROUTING FOR LINE INTEGRITY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3039344" y="2831160"/>
            <a:ext cx="1353312" cy="7883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54"/>
              </a:lnSpc>
            </a:pPr>
            <a:r>
              <a:rPr lang="en-US" sz="2656" b="1">
                <a:solidFill>
                  <a:srgbClr val="00E0FF"/>
                </a:solidFill>
                <a:latin typeface="Poppins Bold"/>
                <a:ea typeface="Poppins Bold"/>
                <a:cs typeface="Poppins Bold"/>
                <a:sym typeface="Poppins Bold"/>
              </a:rPr>
              <a:t>OUTPUT</a:t>
            </a:r>
          </a:p>
          <a:p>
            <a:pPr algn="ctr">
              <a:lnSpc>
                <a:spcPts val="3054"/>
              </a:lnSpc>
            </a:pPr>
            <a:r>
              <a:rPr lang="en-US" sz="2656" b="1">
                <a:solidFill>
                  <a:srgbClr val="00E0FF"/>
                </a:solidFill>
                <a:latin typeface="Poppins Bold"/>
                <a:ea typeface="Poppins Bold"/>
                <a:cs typeface="Poppins Bold"/>
                <a:sym typeface="Poppins Bold"/>
              </a:rPr>
              <a:t>MUX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082528" y="5290777"/>
            <a:ext cx="1444752" cy="2902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53"/>
              </a:lnSpc>
            </a:pPr>
            <a:r>
              <a:rPr lang="en-US" sz="2053" b="1">
                <a:solidFill>
                  <a:srgbClr val="00E0FF"/>
                </a:solidFill>
                <a:latin typeface="Poppins Bold"/>
                <a:ea typeface="Poppins Bold"/>
                <a:cs typeface="Poppins Bold"/>
                <a:sym typeface="Poppins Bold"/>
              </a:rPr>
              <a:t>CTRL SHIFT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911328" y="5290777"/>
            <a:ext cx="1572768" cy="2902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53"/>
              </a:lnSpc>
            </a:pPr>
            <a:r>
              <a:rPr lang="en-US" sz="2053" b="1">
                <a:solidFill>
                  <a:srgbClr val="00E0FF"/>
                </a:solidFill>
                <a:latin typeface="Poppins Bold"/>
                <a:ea typeface="Poppins Bold"/>
                <a:cs typeface="Poppins Bold"/>
                <a:sym typeface="Poppins Bold"/>
              </a:rPr>
              <a:t>CTRL BREAK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4923008" y="5279001"/>
            <a:ext cx="1298448" cy="3138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30"/>
              </a:lnSpc>
            </a:pPr>
            <a:r>
              <a:rPr lang="en-US" sz="2230" b="1">
                <a:solidFill>
                  <a:srgbClr val="00E0FF"/>
                </a:solidFill>
                <a:latin typeface="Poppins Bold"/>
                <a:ea typeface="Poppins Bold"/>
                <a:cs typeface="Poppins Bold"/>
                <a:sym typeface="Poppins Bold"/>
              </a:rPr>
              <a:t>CTRLIDLE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094976" y="7798059"/>
            <a:ext cx="5650992" cy="17458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2"/>
              </a:lnSpc>
            </a:pPr>
            <a:r>
              <a:rPr lang="en-US" sz="219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Routes data, break, or idle states to the TXD line. Ensures strong line driving in all modes. Glitch-free switching preserves signal stability and line integrity.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820656" y="2838885"/>
            <a:ext cx="1261872" cy="2563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40"/>
              </a:lnSpc>
            </a:pPr>
            <a:r>
              <a:rPr lang="en-US" sz="184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serial shift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418320" y="3286889"/>
            <a:ext cx="1755648" cy="2449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69"/>
              </a:lnSpc>
            </a:pPr>
            <a:r>
              <a:rPr lang="en-US" sz="176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register output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6239744" y="3027637"/>
            <a:ext cx="530352" cy="2902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53"/>
              </a:lnSpc>
            </a:pPr>
            <a:r>
              <a:rPr lang="en-US" sz="2053" b="1">
                <a:solidFill>
                  <a:srgbClr val="00E0FF"/>
                </a:solidFill>
                <a:latin typeface="Poppins Bold"/>
                <a:ea typeface="Poppins Bold"/>
                <a:cs typeface="Poppins Bold"/>
                <a:sym typeface="Poppins Bold"/>
              </a:rPr>
              <a:t>TXD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6203168" y="3441194"/>
            <a:ext cx="1207008" cy="2449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69"/>
              </a:lnSpc>
            </a:pPr>
            <a:r>
              <a:rPr lang="en-US" sz="176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line signal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338560" y="5666771"/>
            <a:ext cx="950976" cy="2789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82"/>
              </a:lnSpc>
            </a:pPr>
            <a:r>
              <a:rPr lang="en-US" sz="1982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normal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1155680" y="6008770"/>
            <a:ext cx="1298448" cy="2327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63"/>
              </a:lnSpc>
            </a:pPr>
            <a:r>
              <a:rPr lang="en-US" sz="1663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data output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3295376" y="5666321"/>
            <a:ext cx="822960" cy="2798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17"/>
              </a:lnSpc>
            </a:pPr>
            <a:r>
              <a:rPr lang="en-US" sz="2017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forces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3075920" y="6003107"/>
            <a:ext cx="1298448" cy="2440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34"/>
              </a:lnSpc>
            </a:pPr>
            <a:r>
              <a:rPr lang="en-US" sz="1734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continuous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5087600" y="5666321"/>
            <a:ext cx="822960" cy="2798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17"/>
              </a:lnSpc>
            </a:pPr>
            <a:r>
              <a:rPr lang="en-US" sz="2017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forces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4923008" y="5974343"/>
            <a:ext cx="1207008" cy="301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24"/>
              </a:lnSpc>
            </a:pPr>
            <a:r>
              <a:rPr lang="en-US" sz="2124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line high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2929616" y="6336465"/>
            <a:ext cx="420624" cy="2563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40"/>
              </a:lnSpc>
            </a:pPr>
            <a:r>
              <a:rPr lang="en-US" sz="184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low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4904720" y="6338266"/>
            <a:ext cx="1353312" cy="2431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98"/>
              </a:lnSpc>
            </a:pPr>
            <a:r>
              <a:rPr lang="en-US" sz="1698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during reset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0094976" y="7502031"/>
            <a:ext cx="3566160" cy="2911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8"/>
              </a:lnSpc>
            </a:pPr>
            <a:r>
              <a:rPr lang="en-US" sz="2088" b="1">
                <a:solidFill>
                  <a:srgbClr val="00E0FF"/>
                </a:solidFill>
                <a:latin typeface="Poppins Bold"/>
                <a:ea typeface="Poppins Bold"/>
                <a:cs typeface="Poppins Bold"/>
                <a:sym typeface="Poppins Bold"/>
              </a:rPr>
              <a:t>RELIABLE SIGNAL CONTROL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566928" y="2208855"/>
            <a:ext cx="14851185" cy="7702835"/>
          </a:xfrm>
          <a:custGeom>
            <a:avLst/>
            <a:gdLst/>
            <a:ahLst/>
            <a:cxnLst/>
            <a:rect l="l" t="t" r="r" b="b"/>
            <a:pathLst>
              <a:path w="14851185" h="7702835">
                <a:moveTo>
                  <a:pt x="0" y="0"/>
                </a:moveTo>
                <a:lnTo>
                  <a:pt x="14851185" y="0"/>
                </a:lnTo>
                <a:lnTo>
                  <a:pt x="14851185" y="7702835"/>
                </a:lnTo>
                <a:lnTo>
                  <a:pt x="0" y="770283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566928" y="596430"/>
            <a:ext cx="13606272" cy="7776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91"/>
              </a:lnSpc>
            </a:pPr>
            <a:r>
              <a:rPr lang="en-US" sz="5491" b="1" spc="-164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Top-Level Module Structural Integration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66928" y="1494853"/>
            <a:ext cx="6364224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72"/>
              </a:lnSpc>
            </a:pPr>
            <a:r>
              <a:rPr lang="en-US" sz="2726" b="1" spc="-81">
                <a:solidFill>
                  <a:srgbClr val="00C2CB"/>
                </a:solidFill>
                <a:latin typeface="Poppins Bold"/>
                <a:ea typeface="Poppins Bold"/>
                <a:cs typeface="Poppins Bold"/>
                <a:sym typeface="Poppins Bold"/>
              </a:rPr>
              <a:t>Complete UART Transmitter in Verilog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566928" y="596430"/>
            <a:ext cx="13606272" cy="923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6000" b="1" dirty="0">
                <a:solidFill>
                  <a:schemeClr val="bg1"/>
                </a:solidFill>
                <a:latin typeface="Poppins Bold" panose="020B0604020202020204" charset="0"/>
                <a:cs typeface="Poppins Bold" panose="020B0604020202020204" charset="0"/>
              </a:rPr>
              <a:t>UART TX </a:t>
            </a:r>
            <a:r>
              <a:rPr lang="en-US" sz="6000" b="1" dirty="0" err="1" smtClean="0">
                <a:solidFill>
                  <a:schemeClr val="bg1"/>
                </a:solidFill>
                <a:latin typeface="Poppins Bold" panose="020B0604020202020204" charset="0"/>
                <a:cs typeface="Poppins Bold" panose="020B0604020202020204" charset="0"/>
              </a:rPr>
              <a:t>Testbench</a:t>
            </a:r>
            <a:endParaRPr lang="en-US" sz="6000" b="1" dirty="0">
              <a:solidFill>
                <a:schemeClr val="bg1"/>
              </a:solidFill>
              <a:latin typeface="Poppins Bold" panose="020B0604020202020204" charset="0"/>
              <a:cs typeface="Poppins Bold" panose="020B0604020202020204" charset="0"/>
            </a:endParaRPr>
          </a:p>
        </p:txBody>
      </p:sp>
      <p:pic>
        <p:nvPicPr>
          <p:cNvPr id="3075" name="Picture 3" descr="E:\Course\NTI\Images\Testbench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866899"/>
            <a:ext cx="16078200" cy="80007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508609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566928" y="596430"/>
            <a:ext cx="13606272" cy="7261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91"/>
              </a:lnSpc>
            </a:pPr>
            <a:r>
              <a:rPr lang="en-US" sz="5491" b="1" spc="-164" dirty="0" smtClean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Wave Output</a:t>
            </a:r>
            <a:endParaRPr lang="en-US" sz="5491" b="1" spc="-164" dirty="0">
              <a:solidFill>
                <a:srgbClr val="FFFFFF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pic>
        <p:nvPicPr>
          <p:cNvPr id="1027" name="Picture 3" descr="E:\Course\NTI\Images\Wave Output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928" y="2324100"/>
            <a:ext cx="17092449" cy="457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477902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2143125"/>
            <a:ext cx="18288000" cy="3648075"/>
          </a:xfrm>
          <a:custGeom>
            <a:avLst/>
            <a:gdLst/>
            <a:ahLst/>
            <a:cxnLst/>
            <a:rect l="l" t="t" r="r" b="b"/>
            <a:pathLst>
              <a:path w="18288000" h="3648075">
                <a:moveTo>
                  <a:pt x="0" y="0"/>
                </a:moveTo>
                <a:lnTo>
                  <a:pt x="18288000" y="0"/>
                </a:lnTo>
                <a:lnTo>
                  <a:pt x="18288000" y="3648075"/>
                </a:lnTo>
                <a:lnTo>
                  <a:pt x="0" y="36480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530352" y="544494"/>
            <a:ext cx="13149072" cy="891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36"/>
              </a:lnSpc>
            </a:pPr>
            <a:r>
              <a:rPr lang="en-US" sz="6236" b="1" spc="-187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Project Summary &amp; Specifications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30352" y="1542795"/>
            <a:ext cx="6748272" cy="4089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5"/>
              </a:lnSpc>
            </a:pPr>
            <a:r>
              <a:rPr lang="en-US" sz="2975" b="1">
                <a:solidFill>
                  <a:srgbClr val="00C9FF"/>
                </a:solidFill>
                <a:latin typeface="Poppins Bold"/>
                <a:ea typeface="Poppins Bold"/>
                <a:cs typeface="Poppins Bold"/>
                <a:sym typeface="Poppins Bold"/>
              </a:rPr>
              <a:t>KEY FEATURES AND DESIGN CLAIMS</a:t>
            </a:r>
          </a:p>
        </p:txBody>
      </p:sp>
      <p:sp>
        <p:nvSpPr>
          <p:cNvPr id="6" name="Freeform 6"/>
          <p:cNvSpPr/>
          <p:nvPr/>
        </p:nvSpPr>
        <p:spPr>
          <a:xfrm>
            <a:off x="6096000" y="3429000"/>
            <a:ext cx="1314450" cy="647700"/>
          </a:xfrm>
          <a:custGeom>
            <a:avLst/>
            <a:gdLst/>
            <a:ahLst/>
            <a:cxnLst/>
            <a:rect l="l" t="t" r="r" b="b"/>
            <a:pathLst>
              <a:path w="1314450" h="647700">
                <a:moveTo>
                  <a:pt x="0" y="0"/>
                </a:moveTo>
                <a:lnTo>
                  <a:pt x="1314450" y="0"/>
                </a:lnTo>
                <a:lnTo>
                  <a:pt x="13144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0877550" y="3429000"/>
            <a:ext cx="1314450" cy="647700"/>
          </a:xfrm>
          <a:custGeom>
            <a:avLst/>
            <a:gdLst/>
            <a:ahLst/>
            <a:cxnLst/>
            <a:rect l="l" t="t" r="r" b="b"/>
            <a:pathLst>
              <a:path w="1314450" h="647700">
                <a:moveTo>
                  <a:pt x="0" y="0"/>
                </a:moveTo>
                <a:lnTo>
                  <a:pt x="1314450" y="0"/>
                </a:lnTo>
                <a:lnTo>
                  <a:pt x="13144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6096000" y="5353050"/>
            <a:ext cx="1314450" cy="219075"/>
          </a:xfrm>
          <a:custGeom>
            <a:avLst/>
            <a:gdLst/>
            <a:ahLst/>
            <a:cxnLst/>
            <a:rect l="l" t="t" r="r" b="b"/>
            <a:pathLst>
              <a:path w="1314450" h="219075">
                <a:moveTo>
                  <a:pt x="0" y="0"/>
                </a:moveTo>
                <a:lnTo>
                  <a:pt x="1314450" y="0"/>
                </a:lnTo>
                <a:lnTo>
                  <a:pt x="131445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0877550" y="5353050"/>
            <a:ext cx="1314450" cy="219075"/>
          </a:xfrm>
          <a:custGeom>
            <a:avLst/>
            <a:gdLst/>
            <a:ahLst/>
            <a:cxnLst/>
            <a:rect l="l" t="t" r="r" b="b"/>
            <a:pathLst>
              <a:path w="1314450" h="219075">
                <a:moveTo>
                  <a:pt x="0" y="0"/>
                </a:moveTo>
                <a:lnTo>
                  <a:pt x="1314450" y="0"/>
                </a:lnTo>
                <a:lnTo>
                  <a:pt x="131445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6096000" y="7067550"/>
            <a:ext cx="1314450" cy="647700"/>
          </a:xfrm>
          <a:custGeom>
            <a:avLst/>
            <a:gdLst/>
            <a:ahLst/>
            <a:cxnLst/>
            <a:rect l="l" t="t" r="r" b="b"/>
            <a:pathLst>
              <a:path w="1314450" h="647700">
                <a:moveTo>
                  <a:pt x="0" y="0"/>
                </a:moveTo>
                <a:lnTo>
                  <a:pt x="1314450" y="0"/>
                </a:lnTo>
                <a:lnTo>
                  <a:pt x="13144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0877550" y="7067550"/>
            <a:ext cx="1314450" cy="647700"/>
          </a:xfrm>
          <a:custGeom>
            <a:avLst/>
            <a:gdLst/>
            <a:ahLst/>
            <a:cxnLst/>
            <a:rect l="l" t="t" r="r" b="b"/>
            <a:pathLst>
              <a:path w="1314450" h="647700">
                <a:moveTo>
                  <a:pt x="0" y="0"/>
                </a:moveTo>
                <a:lnTo>
                  <a:pt x="1314450" y="0"/>
                </a:lnTo>
                <a:lnTo>
                  <a:pt x="13144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6962775" y="3209925"/>
            <a:ext cx="4143375" cy="4724400"/>
          </a:xfrm>
          <a:custGeom>
            <a:avLst/>
            <a:gdLst/>
            <a:ahLst/>
            <a:cxnLst/>
            <a:rect l="l" t="t" r="r" b="b"/>
            <a:pathLst>
              <a:path w="4143375" h="4724400">
                <a:moveTo>
                  <a:pt x="0" y="0"/>
                </a:moveTo>
                <a:lnTo>
                  <a:pt x="4143375" y="0"/>
                </a:lnTo>
                <a:lnTo>
                  <a:pt x="4143375" y="4724400"/>
                </a:lnTo>
                <a:lnTo>
                  <a:pt x="0" y="472440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7662672" y="4232858"/>
            <a:ext cx="2852928" cy="13103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214"/>
              </a:lnSpc>
            </a:pPr>
            <a:r>
              <a:rPr lang="en-US" sz="9214" b="1" spc="-276">
                <a:solidFill>
                  <a:srgbClr val="00C9FF"/>
                </a:solidFill>
                <a:latin typeface="Poppins Bold"/>
                <a:ea typeface="Poppins Bold"/>
                <a:cs typeface="Poppins Bold"/>
                <a:sym typeface="Poppins Bold"/>
              </a:rPr>
              <a:t>100%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662672" y="5523494"/>
            <a:ext cx="2852928" cy="8897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8"/>
              </a:lnSpc>
            </a:pPr>
            <a:r>
              <a:rPr lang="en-US" sz="2691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SYNTHESIZABLE VERILOG CODE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010144" y="6647011"/>
            <a:ext cx="2139696" cy="6787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9"/>
              </a:lnSpc>
            </a:pPr>
            <a:r>
              <a:rPr lang="en-US" sz="205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compatible with FPGA/ASIC tools</a:t>
            </a:r>
          </a:p>
        </p:txBody>
      </p:sp>
      <p:sp>
        <p:nvSpPr>
          <p:cNvPr id="16" name="Freeform 16"/>
          <p:cNvSpPr/>
          <p:nvPr/>
        </p:nvSpPr>
        <p:spPr>
          <a:xfrm>
            <a:off x="1085850" y="2571750"/>
            <a:ext cx="5229225" cy="1933575"/>
          </a:xfrm>
          <a:custGeom>
            <a:avLst/>
            <a:gdLst/>
            <a:ahLst/>
            <a:cxnLst/>
            <a:rect l="l" t="t" r="r" b="b"/>
            <a:pathLst>
              <a:path w="5229225" h="1933575">
                <a:moveTo>
                  <a:pt x="0" y="0"/>
                </a:moveTo>
                <a:lnTo>
                  <a:pt x="5229225" y="0"/>
                </a:lnTo>
                <a:lnTo>
                  <a:pt x="5229225" y="1933575"/>
                </a:lnTo>
                <a:lnTo>
                  <a:pt x="0" y="193357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1682496" y="3067815"/>
            <a:ext cx="3310128" cy="3025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59"/>
              </a:lnSpc>
            </a:pPr>
            <a:r>
              <a:rPr lang="en-US" sz="2159" b="1" dirty="0">
                <a:solidFill>
                  <a:srgbClr val="00C9FF"/>
                </a:solidFill>
                <a:latin typeface="Poppins Bold"/>
                <a:ea typeface="Poppins Bold"/>
                <a:cs typeface="Poppins Bold"/>
                <a:sym typeface="Poppins Bold"/>
              </a:rPr>
              <a:t>FULLY MODULAR DESIGN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682496" y="3454855"/>
            <a:ext cx="3145536" cy="6329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85"/>
              </a:lnSpc>
            </a:pPr>
            <a:r>
              <a:rPr lang="en-US" sz="191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matches the architecture block diagram</a:t>
            </a:r>
          </a:p>
        </p:txBody>
      </p:sp>
      <p:sp>
        <p:nvSpPr>
          <p:cNvPr id="19" name="Freeform 19"/>
          <p:cNvSpPr/>
          <p:nvPr/>
        </p:nvSpPr>
        <p:spPr>
          <a:xfrm>
            <a:off x="1085850" y="4495800"/>
            <a:ext cx="5229225" cy="1933575"/>
          </a:xfrm>
          <a:custGeom>
            <a:avLst/>
            <a:gdLst/>
            <a:ahLst/>
            <a:cxnLst/>
            <a:rect l="l" t="t" r="r" b="b"/>
            <a:pathLst>
              <a:path w="5229225" h="1933575">
                <a:moveTo>
                  <a:pt x="0" y="0"/>
                </a:moveTo>
                <a:lnTo>
                  <a:pt x="5229225" y="0"/>
                </a:lnTo>
                <a:lnTo>
                  <a:pt x="5229225" y="1933575"/>
                </a:lnTo>
                <a:lnTo>
                  <a:pt x="0" y="193357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1682496" y="5007434"/>
            <a:ext cx="3566160" cy="2911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8"/>
              </a:lnSpc>
            </a:pPr>
            <a:r>
              <a:rPr lang="en-US" sz="2088" b="1">
                <a:solidFill>
                  <a:srgbClr val="00C9FF"/>
                </a:solidFill>
                <a:latin typeface="Poppins Bold"/>
                <a:ea typeface="Poppins Bold"/>
                <a:cs typeface="Poppins Bold"/>
                <a:sym typeface="Poppins Bold"/>
              </a:rPr>
              <a:t>CLEAN FIFO HANDSHAKING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682496" y="5388811"/>
            <a:ext cx="2688336" cy="6329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85"/>
              </a:lnSpc>
            </a:pPr>
            <a:r>
              <a:rPr lang="en-US" sz="191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interface only, </a:t>
            </a:r>
          </a:p>
          <a:p>
            <a:pPr algn="l">
              <a:lnSpc>
                <a:spcPts val="2485"/>
              </a:lnSpc>
            </a:pPr>
            <a:r>
              <a:rPr lang="en-US" sz="191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FIFO not implemented</a:t>
            </a:r>
          </a:p>
        </p:txBody>
      </p:sp>
      <p:sp>
        <p:nvSpPr>
          <p:cNvPr id="22" name="Freeform 22"/>
          <p:cNvSpPr/>
          <p:nvPr/>
        </p:nvSpPr>
        <p:spPr>
          <a:xfrm>
            <a:off x="1085850" y="6429375"/>
            <a:ext cx="5229225" cy="2143125"/>
          </a:xfrm>
          <a:custGeom>
            <a:avLst/>
            <a:gdLst/>
            <a:ahLst/>
            <a:cxnLst/>
            <a:rect l="l" t="t" r="r" b="b"/>
            <a:pathLst>
              <a:path w="5229225" h="2143125">
                <a:moveTo>
                  <a:pt x="0" y="0"/>
                </a:moveTo>
                <a:lnTo>
                  <a:pt x="5229225" y="0"/>
                </a:lnTo>
                <a:lnTo>
                  <a:pt x="5229225" y="2143125"/>
                </a:lnTo>
                <a:lnTo>
                  <a:pt x="0" y="214312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23" name="TextBox 23"/>
          <p:cNvSpPr txBox="1"/>
          <p:nvPr/>
        </p:nvSpPr>
        <p:spPr>
          <a:xfrm>
            <a:off x="1682496" y="6997899"/>
            <a:ext cx="3858768" cy="301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24"/>
              </a:lnSpc>
            </a:pPr>
            <a:r>
              <a:rPr lang="en-US" sz="2124" b="1">
                <a:solidFill>
                  <a:srgbClr val="00C9FF"/>
                </a:solidFill>
                <a:latin typeface="Poppins Bold"/>
                <a:ea typeface="Poppins Bold"/>
                <a:cs typeface="Poppins Bold"/>
                <a:sym typeface="Poppins Bold"/>
              </a:rPr>
              <a:t>5 PARITY MODES SUPPORTED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660289" y="7498760"/>
            <a:ext cx="2103120" cy="6601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3"/>
              </a:lnSpc>
            </a:pPr>
            <a:r>
              <a:rPr lang="en-US" sz="2017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odd, even, mark, space, none</a:t>
            </a:r>
          </a:p>
        </p:txBody>
      </p:sp>
      <p:sp>
        <p:nvSpPr>
          <p:cNvPr id="25" name="Freeform 25"/>
          <p:cNvSpPr/>
          <p:nvPr/>
        </p:nvSpPr>
        <p:spPr>
          <a:xfrm>
            <a:off x="11972925" y="2571750"/>
            <a:ext cx="5010150" cy="1933575"/>
          </a:xfrm>
          <a:custGeom>
            <a:avLst/>
            <a:gdLst/>
            <a:ahLst/>
            <a:cxnLst/>
            <a:rect l="l" t="t" r="r" b="b"/>
            <a:pathLst>
              <a:path w="5010150" h="1933575">
                <a:moveTo>
                  <a:pt x="0" y="0"/>
                </a:moveTo>
                <a:lnTo>
                  <a:pt x="5010150" y="0"/>
                </a:lnTo>
                <a:lnTo>
                  <a:pt x="5010150" y="1933575"/>
                </a:lnTo>
                <a:lnTo>
                  <a:pt x="0" y="193357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26" name="TextBox 26"/>
          <p:cNvSpPr txBox="1"/>
          <p:nvPr/>
        </p:nvSpPr>
        <p:spPr>
          <a:xfrm>
            <a:off x="12490704" y="3079141"/>
            <a:ext cx="3566160" cy="2798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17"/>
              </a:lnSpc>
            </a:pPr>
            <a:r>
              <a:rPr lang="en-US" sz="2017" b="1" dirty="0">
                <a:solidFill>
                  <a:srgbClr val="00C9FF"/>
                </a:solidFill>
                <a:latin typeface="Poppins Bold"/>
                <a:ea typeface="Poppins Bold"/>
                <a:cs typeface="Poppins Bold"/>
                <a:sym typeface="Poppins Bold"/>
              </a:rPr>
              <a:t>GLITCH-FREE OUTPUT_MUX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2490704" y="3454855"/>
            <a:ext cx="3236976" cy="6329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85"/>
              </a:lnSpc>
            </a:pPr>
            <a:r>
              <a:rPr lang="en-US" sz="191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glitch-free multiplexer switching for stable TX line</a:t>
            </a:r>
          </a:p>
        </p:txBody>
      </p:sp>
      <p:sp>
        <p:nvSpPr>
          <p:cNvPr id="28" name="Freeform 28"/>
          <p:cNvSpPr/>
          <p:nvPr/>
        </p:nvSpPr>
        <p:spPr>
          <a:xfrm>
            <a:off x="11972925" y="4495800"/>
            <a:ext cx="5010150" cy="1933575"/>
          </a:xfrm>
          <a:custGeom>
            <a:avLst/>
            <a:gdLst/>
            <a:ahLst/>
            <a:cxnLst/>
            <a:rect l="l" t="t" r="r" b="b"/>
            <a:pathLst>
              <a:path w="5010150" h="1933575">
                <a:moveTo>
                  <a:pt x="0" y="0"/>
                </a:moveTo>
                <a:lnTo>
                  <a:pt x="5010150" y="0"/>
                </a:lnTo>
                <a:lnTo>
                  <a:pt x="5010150" y="1933575"/>
                </a:lnTo>
                <a:lnTo>
                  <a:pt x="0" y="193357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</p:sp>
      <p:sp>
        <p:nvSpPr>
          <p:cNvPr id="29" name="TextBox 29"/>
          <p:cNvSpPr txBox="1"/>
          <p:nvPr/>
        </p:nvSpPr>
        <p:spPr>
          <a:xfrm>
            <a:off x="12490704" y="5007434"/>
            <a:ext cx="2560320" cy="2911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8"/>
              </a:lnSpc>
            </a:pPr>
            <a:r>
              <a:rPr lang="en-US" sz="2088" b="1">
                <a:solidFill>
                  <a:srgbClr val="00C9FF"/>
                </a:solidFill>
                <a:latin typeface="Poppins Bold"/>
                <a:ea typeface="Poppins Bold"/>
                <a:cs typeface="Poppins Bold"/>
                <a:sym typeface="Poppins Bold"/>
              </a:rPr>
              <a:t>MAX FRAME WIDTH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2490704" y="5406960"/>
            <a:ext cx="3493008" cy="5871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00"/>
              </a:lnSpc>
            </a:pPr>
            <a:r>
              <a:rPr lang="en-US" sz="176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11 bits</a:t>
            </a:r>
          </a:p>
          <a:p>
            <a:pPr algn="l">
              <a:lnSpc>
                <a:spcPts val="2300"/>
              </a:lnSpc>
            </a:pPr>
            <a:r>
              <a:rPr lang="en-US" sz="176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(start + 8 data + parity + stop)</a:t>
            </a:r>
          </a:p>
        </p:txBody>
      </p:sp>
      <p:sp>
        <p:nvSpPr>
          <p:cNvPr id="31" name="Freeform 31"/>
          <p:cNvSpPr/>
          <p:nvPr/>
        </p:nvSpPr>
        <p:spPr>
          <a:xfrm>
            <a:off x="11972925" y="6429375"/>
            <a:ext cx="5010150" cy="2143125"/>
          </a:xfrm>
          <a:custGeom>
            <a:avLst/>
            <a:gdLst/>
            <a:ahLst/>
            <a:cxnLst/>
            <a:rect l="l" t="t" r="r" b="b"/>
            <a:pathLst>
              <a:path w="5010150" h="2143125">
                <a:moveTo>
                  <a:pt x="0" y="0"/>
                </a:moveTo>
                <a:lnTo>
                  <a:pt x="5010150" y="0"/>
                </a:lnTo>
                <a:lnTo>
                  <a:pt x="5010150" y="2143125"/>
                </a:lnTo>
                <a:lnTo>
                  <a:pt x="0" y="214312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</p:sp>
      <p:sp>
        <p:nvSpPr>
          <p:cNvPr id="32" name="TextBox 32"/>
          <p:cNvSpPr txBox="1"/>
          <p:nvPr/>
        </p:nvSpPr>
        <p:spPr>
          <a:xfrm>
            <a:off x="12490704" y="7003112"/>
            <a:ext cx="3566160" cy="2911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8"/>
              </a:lnSpc>
            </a:pPr>
            <a:r>
              <a:rPr lang="en-US" sz="2088" b="1">
                <a:solidFill>
                  <a:srgbClr val="00C9FF"/>
                </a:solidFill>
                <a:latin typeface="Poppins Bold"/>
                <a:ea typeface="Poppins Bold"/>
                <a:cs typeface="Poppins Bold"/>
                <a:sym typeface="Poppins Bold"/>
              </a:rPr>
              <a:t>ZERO LATCH-PRONE LOGIC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2490704" y="7384264"/>
            <a:ext cx="2651760" cy="6238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9"/>
              </a:lnSpc>
            </a:pPr>
            <a:r>
              <a:rPr lang="en-US" sz="187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safe, synthesizable combinational design</a:t>
            </a:r>
          </a:p>
        </p:txBody>
      </p:sp>
      <p:sp>
        <p:nvSpPr>
          <p:cNvPr id="34" name="Freeform 34"/>
          <p:cNvSpPr/>
          <p:nvPr/>
        </p:nvSpPr>
        <p:spPr>
          <a:xfrm>
            <a:off x="1085850" y="8572500"/>
            <a:ext cx="15897225" cy="1285875"/>
          </a:xfrm>
          <a:custGeom>
            <a:avLst/>
            <a:gdLst/>
            <a:ahLst/>
            <a:cxnLst/>
            <a:rect l="l" t="t" r="r" b="b"/>
            <a:pathLst>
              <a:path w="15897225" h="1285875">
                <a:moveTo>
                  <a:pt x="0" y="0"/>
                </a:moveTo>
                <a:lnTo>
                  <a:pt x="15897225" y="0"/>
                </a:lnTo>
                <a:lnTo>
                  <a:pt x="15897225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</p:sp>
      <p:sp>
        <p:nvSpPr>
          <p:cNvPr id="35" name="TextBox 35"/>
          <p:cNvSpPr txBox="1"/>
          <p:nvPr/>
        </p:nvSpPr>
        <p:spPr>
          <a:xfrm>
            <a:off x="2103120" y="9103237"/>
            <a:ext cx="13898880" cy="3600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49"/>
              </a:lnSpc>
            </a:pPr>
            <a:r>
              <a:rPr lang="en-US" sz="2549" b="1">
                <a:solidFill>
                  <a:srgbClr val="00C9FF"/>
                </a:solidFill>
                <a:latin typeface="Poppins Bold"/>
                <a:ea typeface="Poppins Bold"/>
                <a:cs typeface="Poppins Bold"/>
                <a:sym typeface="Poppins Bold"/>
              </a:rPr>
              <a:t>EDUCATIONAL AND PRACTICAL: A CLEAN, SYNTHESIZABLE UART TRANSMITTER DESIGN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172</TotalTime>
  <Words>407</Words>
  <Application>Microsoft Office PowerPoint</Application>
  <PresentationFormat>Custom</PresentationFormat>
  <Paragraphs>89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Poppins Bold</vt:lpstr>
      <vt:lpstr>Calibri</vt:lpstr>
      <vt:lpstr>Poppins</vt:lpstr>
      <vt:lpstr>Poppins Semi-Bold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Main Controller (FSM)</dc:title>
  <cp:lastModifiedBy>pc</cp:lastModifiedBy>
  <cp:revision>10</cp:revision>
  <dcterms:created xsi:type="dcterms:W3CDTF">2006-08-16T00:00:00Z</dcterms:created>
  <dcterms:modified xsi:type="dcterms:W3CDTF">2026-08-28T03:40:44Z</dcterms:modified>
  <dc:identifier>DAHTbsUcVGY</dc:identifier>
</cp:coreProperties>
</file>